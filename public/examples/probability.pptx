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20395F"/>
                </a:solidFill>
              </a:defRPr>
            </a:pPr>
            <a:r>
              <a:t>条件概率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0395F"/>
                </a:solidFill>
              </a:defRPr>
            </a:pPr>
            <a:r>
              <a:t>已知事件 B 发生时，事件 A 发生的概率。</a:t>
            </a:r>
          </a:p>
          <a:p>
            <a:pPr>
              <a:defRPr sz="2000">
                <a:solidFill>
                  <a:srgbClr val="20395F"/>
                </a:solidFill>
              </a:defRPr>
            </a:pPr>
            <a:r>
              <a:t>条件改变了样本空间，从全部情况缩小到 B。</a:t>
            </a:r>
          </a:p>
          <a:p>
            <a:pPr>
              <a:defRPr sz="2000">
                <a:solidFill>
                  <a:srgbClr val="20395F"/>
                </a:solidFill>
              </a:defRPr>
            </a:pPr>
            <a:r>
              <a:t>分母是条件事件的概率，要求 P(B) &gt; 0。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0395F"/>
                </a:solidFill>
              </a:defRPr>
            </a:pPr>
            <a:r>
              <a:t>P(A | B) = P(A and B) / P(B)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20395F"/>
                </a:solidFill>
              </a:defRPr>
            </a:pPr>
            <a:r>
              <a:t>乘法公式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0395F"/>
                </a:solidFill>
              </a:defRPr>
            </a:pPr>
            <a:r>
              <a:t>联合概率可以分解为条件概率与边缘概率的乘积。</a:t>
            </a:r>
          </a:p>
          <a:p>
            <a:pPr>
              <a:defRPr sz="2000">
                <a:solidFill>
                  <a:srgbClr val="20395F"/>
                </a:solidFill>
              </a:defRPr>
            </a:pPr>
            <a:r>
              <a:t>先判断已知条件，再选择计算方向。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0395F"/>
                </a:solidFill>
              </a:defRPr>
            </a:pPr>
            <a:r>
              <a:t>P(A and B) = P(B) * P(A | 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20395F"/>
                </a:solidFill>
              </a:defRPr>
            </a:pPr>
            <a:r>
              <a:t>全概率公式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0395F"/>
                </a:solidFill>
              </a:defRPr>
            </a:pPr>
            <a:r>
              <a:t>将样本空间划分为互不相交且覆盖全部情况的事件。</a:t>
            </a:r>
          </a:p>
          <a:p>
            <a:pPr>
              <a:defRPr sz="2000">
                <a:solidFill>
                  <a:srgbClr val="20395F"/>
                </a:solidFill>
              </a:defRPr>
            </a:pPr>
            <a:r>
              <a:t>分别计算各条路径，再将结果相加。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0395F"/>
                </a:solidFill>
              </a:defRPr>
            </a:pPr>
            <a:r>
              <a:t>P(A) = Sum P(Bi) * P(A | Bi)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20395F"/>
                </a:solidFill>
              </a:defRPr>
            </a:pPr>
            <a:r>
              <a:t>贝叶斯公式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0395F"/>
                </a:solidFill>
              </a:defRPr>
            </a:pPr>
            <a:r>
              <a:t>从观察到的结果，反推不同原因的可能性。</a:t>
            </a:r>
          </a:p>
          <a:p>
            <a:pPr>
              <a:defRPr sz="2000">
                <a:solidFill>
                  <a:srgbClr val="20395F"/>
                </a:solidFill>
              </a:defRPr>
            </a:pPr>
            <a:r>
              <a:t>先验概率结合证据得到后验概率。</a:t>
            </a:r>
          </a:p>
          <a:p>
            <a:pPr>
              <a:defRPr sz="2000">
                <a:solidFill>
                  <a:srgbClr val="20395F"/>
                </a:solidFill>
              </a:defRPr>
            </a:pPr>
            <a:r>
              <a:t>注意两个方向的条件概率通常不同。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0395F"/>
                </a:solidFill>
              </a:defRPr>
            </a:pPr>
            <a:r>
              <a:t>P(Bi | A) = P(Bi) * P(A | Bi) / P(A)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